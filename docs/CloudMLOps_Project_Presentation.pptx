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Shopez-style title: team left; phones show what the app does (pipeline + summarize UI). Full AWS screenshots on later demo slides. Interactive Demo (F5).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high-level; details come on architecture and demo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your live demo slide — click buttons during viva.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link hub if panel asks for every URL in one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panel. Offer to show live demo again from slide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asqmhsdwfs.us-east-2.awsapprunner.com" TargetMode="External"/><Relationship Id="rId4" Type="http://schemas.openxmlformats.org/officeDocument/2006/relationships/hyperlink" Target="https://p3jivcdmbf.us-east-2.awsapprunner.com/docs" TargetMode="External"/><Relationship Id="rId5" Type="http://schemas.openxmlformats.org/officeDocument/2006/relationships/hyperlink" Target="https://p3jivcdmbf.us-east-2.awsapprunner.com/health" TargetMode="External"/><Relationship Id="rId6" Type="http://schemas.openxmlformats.org/officeDocument/2006/relationships/hyperlink" Target="https://github.com/nitya200/CloudMlOps" TargetMode="External"/><Relationship Id="rId7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sqmhsdwfs.us-east-2.awsapprunner.com" TargetMode="External"/><Relationship Id="rId3" Type="http://schemas.openxmlformats.org/officeDocument/2006/relationships/hyperlink" Target="https://p3jivcdmbf.us-east-2.awsapprunner.com/docs" TargetMode="External"/><Relationship Id="rId4" Type="http://schemas.openxmlformats.org/officeDocument/2006/relationships/hyperlink" Target="https://github.com/nitya200/CloudMlOps" TargetMode="External"/><Relationship Id="rId5" Type="http://schemas.openxmlformats.org/officeDocument/2006/relationships/image" Target="../media/image8.png"/><Relationship Id="rId6" Type="http://schemas.openxmlformats.org/officeDocument/2006/relationships/hyperlink" Target="https://p3jivcdmbf.us-east-2.awsapprunner.com" TargetMode="External"/><Relationship Id="rId7" Type="http://schemas.openxmlformats.org/officeDocument/2006/relationships/hyperlink" Target="https://p3jivcdmbf.us-east-2.awsapprunner.com/health" TargetMode="External"/><Relationship Id="rId8" Type="http://schemas.openxmlformats.org/officeDocument/2006/relationships/hyperlink" Target="https://p3jivcdmbf.us-east-2.awsapprunner.com/redoc" TargetMode="External"/><Relationship Id="rId9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sqmhsdwfs.us-east-2.awsapprunner.com" TargetMode="Externa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77240"/>
            <a:ext cx="59436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5200" b="1">
                <a:solidFill>
                  <a:srgbClr val="FFFFFF"/>
                </a:solidFill>
                <a:latin typeface="Segoe UI"/>
              </a:defRPr>
            </a:pPr>
            <a:r>
              <a:t>CLOUDMLOPS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55648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AI Document Summarization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423160"/>
            <a:ext cx="53492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  •  Ingest PDF, DOCX, and TXT in one workspace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  •  FastAPI + FLAN-T5 / extractive summarization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  •  History, ratings, and admin MLOps on AWS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  •  Live on App Runner — demo-ready URLs in-deck</a:t>
            </a:r>
          </a:p>
        </p:txBody>
      </p:sp>
      <p:pic>
        <p:nvPicPr>
          <p:cNvPr id="5" name="Picture 4" descr="phone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060000">
            <a:off x="6172200" y="320040"/>
            <a:ext cx="2423160" cy="4410908"/>
          </a:xfrm>
          <a:prstGeom prst="rect">
            <a:avLst/>
          </a:prstGeom>
        </p:spPr>
      </p:pic>
      <p:pic>
        <p:nvPicPr>
          <p:cNvPr id="6" name="Picture 5" descr="phone_do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20000">
            <a:off x="8366760" y="777240"/>
            <a:ext cx="2423160" cy="4410908"/>
          </a:xfrm>
          <a:prstGeom prst="rect">
            <a:avLst/>
          </a:prstGeom>
        </p:spPr>
      </p:pic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Smart summarization + cloud MLOps in one product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70432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spcAft>
                <a:spcPts val="6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171</a:t>
            </a:r>
          </a:p>
          <a:p>
            <a:pPr algn="ctr">
              <a:spcAft>
                <a:spcPts val="60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Automated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1170432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spcAft>
                <a:spcPts val="6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3</a:t>
            </a:r>
          </a:p>
          <a:p>
            <a:pPr algn="ctr">
              <a:spcAft>
                <a:spcPts val="60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Architecture tiers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1170432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spcAft>
                <a:spcPts val="6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6</a:t>
            </a:r>
          </a:p>
          <a:p>
            <a:pPr algn="ctr">
              <a:spcAft>
                <a:spcPts val="60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Live URLs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50808" y="1170432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spcAft>
                <a:spcPts val="6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AWS</a:t>
            </a:r>
          </a:p>
          <a:p>
            <a:pPr algn="ctr">
              <a:spcAft>
                <a:spcPts val="60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74519"/>
            <a:ext cx="6446520" cy="5074920"/>
          </a:xfrm>
          <a:prstGeom prst="rect">
            <a:avLst/>
          </a:prstGeom>
          <a:noFill/>
        </p:spPr>
        <p:txBody>
          <a:bodyPr wrap="square" lIns="5080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•  Upload PDF / DOCX / TXT — or paste text — get a concise summary in seconds.</a:t>
            </a:r>
          </a:p>
          <a:p>
            <a:pPr>
              <a:lnSpc>
                <a:spcPct val="118000"/>
              </a:lnSpc>
              <a:spcAft>
                <a:spcPts val="10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•  Every summary is saved: search history, download, and rate quality.</a:t>
            </a:r>
          </a:p>
          <a:p>
            <a:pPr>
              <a:lnSpc>
                <a:spcPct val="118000"/>
              </a:lnSpc>
              <a:spcAft>
                <a:spcPts val="10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•  Admins track usage, manage users, and approve new model versions.</a:t>
            </a:r>
          </a:p>
          <a:p>
            <a:pPr>
              <a:lnSpc>
                <a:spcPct val="118000"/>
              </a:lnSpc>
              <a:spcAft>
                <a:spcPts val="10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•  Shipped with Docker, GitHub Actions, Terraform, and AWS App Runner.</a:t>
            </a:r>
          </a:p>
        </p:txBody>
      </p:sp>
      <p:pic>
        <p:nvPicPr>
          <p:cNvPr id="12" name="Picture 11" descr="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719072"/>
            <a:ext cx="4251960" cy="42519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2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Why manual reading does not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6446520" cy="5074920"/>
          </a:xfrm>
          <a:prstGeom prst="rect">
            <a:avLst/>
          </a:prstGeom>
          <a:noFill/>
        </p:spPr>
        <p:txBody>
          <a:bodyPr wrap="square" lIns="5080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•  Reports and papers are too long to read end-to-end under time pressure.</a:t>
            </a:r>
          </a:p>
          <a:p>
            <a:pPr>
              <a:lnSpc>
                <a:spcPct val="118000"/>
              </a:lnSpc>
              <a:spcAft>
                <a:spcPts val="10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•  Notes in Word or email are not searchable or shared safely.</a:t>
            </a:r>
          </a:p>
          <a:p>
            <a:pPr>
              <a:lnSpc>
                <a:spcPct val="118000"/>
              </a:lnSpc>
              <a:spcAft>
                <a:spcPts val="10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•  Heavy AI models stall on free tiers and HTTP timeouts in the cloud.</a:t>
            </a:r>
          </a:p>
          <a:p>
            <a:pPr>
              <a:lnSpc>
                <a:spcPct val="118000"/>
              </a:lnSpc>
              <a:spcAft>
                <a:spcPts val="10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•  Teams need one secure app: extract, summarize, store, and deploy reliably.</a:t>
            </a:r>
          </a:p>
        </p:txBody>
      </p:sp>
      <p:pic>
        <p:nvPicPr>
          <p:cNvPr id="8" name="Picture 7" descr="thi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298448"/>
            <a:ext cx="425196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3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What we set out to build</a:t>
            </a:r>
          </a:p>
        </p:txBody>
      </p:sp>
      <p:pic>
        <p:nvPicPr>
          <p:cNvPr id="7" name="Picture 6" descr="team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353312"/>
            <a:ext cx="2788920" cy="2788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1389888"/>
            <a:ext cx="3456432" cy="1719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Three-tier design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React + FastAPI + PostgreSQL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463040"/>
            <a:ext cx="91440" cy="15727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34255" y="1389888"/>
            <a:ext cx="3456432" cy="1719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F43F5E"/>
                </a:solidFill>
                <a:latin typeface="Segoe UI"/>
              </a:defRPr>
            </a:pPr>
            <a:r>
              <a:t>Smart ingestion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PDF, DOCX, TXT with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5" y="1463040"/>
            <a:ext cx="91440" cy="157276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10143" y="1389888"/>
            <a:ext cx="3456432" cy="1719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4F46E5"/>
                </a:solidFill>
                <a:latin typeface="Segoe UI"/>
              </a:defRPr>
            </a:pPr>
            <a:r>
              <a:t>AI engine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FLAN-T5 locally; fast extractive on AWS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0143" y="1463040"/>
            <a:ext cx="91440" cy="15727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3200400"/>
            <a:ext cx="3456432" cy="1719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User experience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Auth, history, downloads, ratings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273552"/>
            <a:ext cx="91440" cy="15727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34255" y="3200400"/>
            <a:ext cx="3456432" cy="1719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Admin &amp; MLOps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Metrics + model approve / promote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4255" y="3273552"/>
            <a:ext cx="91440" cy="15727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10143" y="3200400"/>
            <a:ext cx="3456432" cy="1719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0EA5E9"/>
                </a:solidFill>
                <a:latin typeface="Segoe UI"/>
              </a:defRPr>
            </a:pPr>
            <a:r>
              <a:t>Cloud ship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CI/CD to App Runner via ECR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0143" y="3273552"/>
            <a:ext cx="91440" cy="15727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4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From document to deployed insight</a:t>
            </a:r>
          </a:p>
        </p:txBody>
      </p:sp>
      <p:pic>
        <p:nvPicPr>
          <p:cNvPr id="7" name="Picture 6" descr="r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325880"/>
            <a:ext cx="2971800" cy="2971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1389888"/>
            <a:ext cx="2423160" cy="187451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77800"/>
          <a:lstStyle/>
          <a:p>
            <a:pPr algn="ctr">
              <a:spcAft>
                <a:spcPts val="600"/>
              </a:spcAft>
              <a:defRPr sz="1700" b="1">
                <a:solidFill>
                  <a:srgbClr val="F43F5E"/>
                </a:solidFill>
                <a:latin typeface="Segoe UI"/>
              </a:defRPr>
            </a:pPr>
            <a:r>
              <a:t>Problem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1E293B"/>
                </a:solidFill>
                <a:latin typeface="Segoe UI"/>
              </a:defRPr>
            </a:pPr>
            <a:r>
              <a:t>Too much text, no system</a:t>
            </a:r>
          </a:p>
        </p:txBody>
      </p:sp>
      <p:sp>
        <p:nvSpPr>
          <p:cNvPr id="9" name="Chevron 8"/>
          <p:cNvSpPr/>
          <p:nvPr/>
        </p:nvSpPr>
        <p:spPr>
          <a:xfrm>
            <a:off x="3108960" y="2148840"/>
            <a:ext cx="320040" cy="411480"/>
          </a:xfrm>
          <a:prstGeom prst="chevron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389888"/>
            <a:ext cx="2423160" cy="187451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77800"/>
          <a:lstStyle/>
          <a:p>
            <a:pPr algn="ctr">
              <a:spcAft>
                <a:spcPts val="600"/>
              </a:spcAft>
              <a:defRPr sz="1700" b="1">
                <a:solidFill>
                  <a:srgbClr val="7C3AED"/>
                </a:solidFill>
                <a:latin typeface="Segoe UI"/>
              </a:defRPr>
            </a:pPr>
            <a:r>
              <a:t>Approach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1E293B"/>
                </a:solidFill>
                <a:latin typeface="Segoe UI"/>
              </a:defRPr>
            </a:pPr>
            <a:r>
              <a:t>Clean layers + AI factory</a:t>
            </a:r>
          </a:p>
        </p:txBody>
      </p:sp>
      <p:sp>
        <p:nvSpPr>
          <p:cNvPr id="11" name="Chevron 10"/>
          <p:cNvSpPr/>
          <p:nvPr/>
        </p:nvSpPr>
        <p:spPr>
          <a:xfrm>
            <a:off x="5833872" y="2148840"/>
            <a:ext cx="320040" cy="411480"/>
          </a:xfrm>
          <a:prstGeom prst="chevron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08192" y="1389888"/>
            <a:ext cx="2423160" cy="187451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77800"/>
          <a:lstStyle/>
          <a:p>
            <a:pPr algn="ctr">
              <a:spcAft>
                <a:spcPts val="600"/>
              </a:spcAft>
              <a:defRPr sz="1700" b="1">
                <a:solidFill>
                  <a:srgbClr val="0D9488"/>
                </a:solidFill>
                <a:latin typeface="Segoe UI"/>
              </a:defRPr>
            </a:pPr>
            <a:r>
              <a:t>Build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1E293B"/>
                </a:solidFill>
                <a:latin typeface="Segoe UI"/>
              </a:defRPr>
            </a:pPr>
            <a:r>
              <a:t>Extract, summarize, store</a:t>
            </a:r>
          </a:p>
        </p:txBody>
      </p:sp>
      <p:sp>
        <p:nvSpPr>
          <p:cNvPr id="13" name="Chevron 12"/>
          <p:cNvSpPr/>
          <p:nvPr/>
        </p:nvSpPr>
        <p:spPr>
          <a:xfrm>
            <a:off x="8558784" y="2148840"/>
            <a:ext cx="320040" cy="41148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33104" y="1389888"/>
            <a:ext cx="2423160" cy="187451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77800"/>
          <a:lstStyle/>
          <a:p>
            <a:pPr algn="ctr">
              <a:spcAft>
                <a:spcPts val="600"/>
              </a:spcAft>
              <a:defRPr sz="1700" b="1">
                <a:solidFill>
                  <a:srgbClr val="10B981"/>
                </a:solidFill>
                <a:latin typeface="Segoe UI"/>
              </a:defRPr>
            </a:pPr>
            <a:r>
              <a:t>Launch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1E293B"/>
                </a:solidFill>
                <a:latin typeface="Segoe UI"/>
              </a:defRPr>
            </a:pPr>
            <a:r>
              <a:t>Live AWS + 171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456432"/>
            <a:ext cx="8183879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77800"/>
          <a:lstStyle/>
          <a:p>
            <a:pPr algn="l">
              <a:spcAft>
                <a:spcPts val="600"/>
              </a:spcAft>
              <a:defRPr sz="1500" b="1">
                <a:solidFill>
                  <a:srgbClr val="06B6D4"/>
                </a:solidFill>
                <a:latin typeface="Segoe UI"/>
              </a:defRPr>
            </a:pPr>
            <a:r>
              <a:t>End-to-end flow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E293B"/>
                </a:solidFill>
                <a:latin typeface="Segoe UI"/>
              </a:defRPr>
            </a:pPr>
            <a:r>
              <a:t>Users upload or paste documents → FastAPI validates and extracts text → summarizer (171 automated tests) persists output to PostgreSQL → React UI and admin dashboard expose history, ratings, and model lifecycle on AWS App Runner.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5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Technologies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Modern stack — only what the project uses</a:t>
            </a:r>
          </a:p>
        </p:txBody>
      </p:sp>
      <p:pic>
        <p:nvPicPr>
          <p:cNvPr id="7" name="Picture 6" descr="ai_b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234440"/>
            <a:ext cx="2880360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1389888"/>
            <a:ext cx="532180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Frontend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React 19, Vite, React Router, Axios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463040"/>
            <a:ext cx="91440" cy="10607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0488" y="1389888"/>
            <a:ext cx="532180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7C3AED"/>
                </a:solidFill>
                <a:latin typeface="Segoe UI"/>
              </a:defRPr>
            </a:pPr>
            <a:r>
              <a:t>Backend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Python 3.12, FastAPI, SQLAlchemy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1463040"/>
            <a:ext cx="91440" cy="10607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2743200"/>
            <a:ext cx="532180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Database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PostgreSQL 16, Alembic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816352"/>
            <a:ext cx="91440" cy="10607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0488" y="2743200"/>
            <a:ext cx="532180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F43F5E"/>
                </a:solidFill>
                <a:latin typeface="Segoe UI"/>
              </a:defRPr>
            </a:pPr>
            <a:r>
              <a:t>AI / ML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Transformers, flan-t5-small, extractive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2816352"/>
            <a:ext cx="91440" cy="106070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096512"/>
            <a:ext cx="532180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Extraction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PyMuPDF, python-docx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169664"/>
            <a:ext cx="91440" cy="10607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0488" y="4096512"/>
            <a:ext cx="532180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0EA5E9"/>
                </a:solidFill>
                <a:latin typeface="Segoe UI"/>
              </a:defRPr>
            </a:pPr>
            <a:r>
              <a:t>Cloud / DevOps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Docker, Actions, ECR, App Runner, Terraform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0488" y="4169664"/>
            <a:ext cx="91440" cy="106070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6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How traffic flows in production</a:t>
            </a:r>
          </a:p>
        </p:txBody>
      </p:sp>
      <p:pic>
        <p:nvPicPr>
          <p:cNvPr id="7" name="Picture 6" descr="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353312"/>
            <a:ext cx="2880360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1389888"/>
            <a:ext cx="781812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152342"/>
                </a:solidFill>
                <a:latin typeface="Segoe UI"/>
              </a:defRPr>
            </a:pPr>
            <a:r>
              <a:t>Browser / 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139696"/>
            <a:ext cx="781812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152342"/>
                </a:solidFill>
                <a:latin typeface="Segoe UI"/>
              </a:defRPr>
            </a:pPr>
            <a:r>
              <a:t>React frontend — AWS App Runner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89503"/>
            <a:ext cx="781812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152342"/>
                </a:solidFill>
                <a:latin typeface="Segoe UI"/>
              </a:defRPr>
            </a:pPr>
            <a:r>
              <a:t>FastAPI backend — AWS App Runner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639311"/>
            <a:ext cx="781812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152342"/>
                </a:solidFill>
                <a:latin typeface="Segoe UI"/>
              </a:defRPr>
            </a:pPr>
            <a:r>
              <a:t>PostgreSQL (RDS) + document 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389120"/>
            <a:ext cx="781812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152342"/>
                </a:solidFill>
                <a:latin typeface="Segoe UI"/>
              </a:defRPr>
            </a:pPr>
            <a:r>
              <a:t>CloudWatch + Secrets 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138928"/>
            <a:ext cx="781812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152342"/>
                </a:solidFill>
                <a:latin typeface="Segoe UI"/>
              </a:defRPr>
            </a:pPr>
            <a:r>
              <a:t>CI/CD — GitHub Actions → ECR → deploy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7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What users and admins can do</a:t>
            </a:r>
          </a:p>
        </p:txBody>
      </p:sp>
      <p:pic>
        <p:nvPicPr>
          <p:cNvPr id="7" name="Picture 6" descr="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353312"/>
            <a:ext cx="2743200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1389888"/>
            <a:ext cx="3456432" cy="1719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4F46E5"/>
                </a:solidFill>
                <a:latin typeface="Segoe UI"/>
              </a:defRPr>
            </a:pPr>
            <a:r>
              <a:t>Authentication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JWT sessions, admin roles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463040"/>
            <a:ext cx="91440" cy="15727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34255" y="1389888"/>
            <a:ext cx="3456432" cy="1719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Summarization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Text + documents, 3 lengths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5" y="1463040"/>
            <a:ext cx="91440" cy="15727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10143" y="1389888"/>
            <a:ext cx="3456432" cy="1719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7C3AED"/>
                </a:solidFill>
                <a:latin typeface="Segoe UI"/>
              </a:defRPr>
            </a:pPr>
            <a:r>
              <a:t>History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Search and pagination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0143" y="1463040"/>
            <a:ext cx="91440" cy="15727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3200400"/>
            <a:ext cx="3456432" cy="1719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F43F5E"/>
                </a:solidFill>
                <a:latin typeface="Segoe UI"/>
              </a:defRPr>
            </a:pPr>
            <a:r>
              <a:t>Feedback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Star ratings for quality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273552"/>
            <a:ext cx="91440" cy="157276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34255" y="3200400"/>
            <a:ext cx="3456432" cy="1719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Admin dashboard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Usage and user management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4255" y="3273552"/>
            <a:ext cx="91440" cy="15727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10143" y="3200400"/>
            <a:ext cx="3456432" cy="1719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3200" rIns="152400" tIns="127000"/>
          <a:lstStyle/>
          <a:p>
            <a:pPr algn="l">
              <a:spcAft>
                <a:spcPts val="6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Model lifecycle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1E293B"/>
                </a:solidFill>
                <a:latin typeface="Segoe UI"/>
              </a:defRPr>
            </a:pPr>
            <a:r>
              <a:t>UC-12 / UC-16 ROUGE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0143" y="3273552"/>
            <a:ext cx="91440" cy="15727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8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Interactive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Click buttons in Slide Show (F5) to open live services</a:t>
            </a:r>
          </a:p>
        </p:txBody>
      </p:sp>
      <p:pic>
        <p:nvPicPr>
          <p:cNvPr id="7" name="Picture 6" descr="thi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874519"/>
            <a:ext cx="3520440" cy="3520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1389888"/>
            <a:ext cx="699516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52342"/>
                </a:solidFill>
                <a:latin typeface="Segoe UI"/>
              </a:defRPr>
            </a:pPr>
            <a:r>
              <a:t>Try the app while you present: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E293B"/>
                </a:solidFill>
                <a:latin typeface="Segoe UI"/>
              </a:defRPr>
            </a:pPr>
            <a:r>
              <a:t>1. Open AWS frontend and log in</a:t>
            </a:r>
            <a:br/>
            <a:r>
              <a:t>2. Upload a sample PDF or paste text</a:t>
            </a:r>
            <a:br/>
            <a:r>
              <a:t>3. Show summary + history</a:t>
            </a:r>
            <a:br/>
            <a:r>
              <a:t>4. Optional: Swagger /docs for API</a:t>
            </a:r>
          </a:p>
        </p:txBody>
      </p:sp>
      <p:sp>
        <p:nvSpPr>
          <p:cNvPr id="9" name="Rounded Rectangle 8">
            <a:hlinkClick r:id="rId3"/>
          </p:cNvPr>
          <p:cNvSpPr/>
          <p:nvPr/>
        </p:nvSpPr>
        <p:spPr>
          <a:xfrm>
            <a:off x="658368" y="3703320"/>
            <a:ext cx="4983480" cy="65836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Launch Web App</a:t>
            </a:r>
          </a:p>
        </p:txBody>
      </p:sp>
      <p:sp>
        <p:nvSpPr>
          <p:cNvPr id="10" name="Rounded Rectangle 9">
            <a:hlinkClick r:id="rId4"/>
          </p:cNvPr>
          <p:cNvSpPr/>
          <p:nvPr/>
        </p:nvSpPr>
        <p:spPr>
          <a:xfrm>
            <a:off x="5733288" y="3703320"/>
            <a:ext cx="4983480" cy="65836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Open Swagger UI</a:t>
            </a:r>
          </a:p>
        </p:txBody>
      </p:sp>
      <p:sp>
        <p:nvSpPr>
          <p:cNvPr id="11" name="Rounded Rectangle 10">
            <a:hlinkClick r:id="rId5"/>
          </p:cNvPr>
          <p:cNvSpPr/>
          <p:nvPr/>
        </p:nvSpPr>
        <p:spPr>
          <a:xfrm>
            <a:off x="658368" y="4498848"/>
            <a:ext cx="4983480" cy="65836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Health Check JSON</a:t>
            </a:r>
          </a:p>
        </p:txBody>
      </p:sp>
      <p:sp>
        <p:nvSpPr>
          <p:cNvPr id="12" name="Rounded Rectangle 11">
            <a:hlinkClick r:id="rId6"/>
          </p:cNvPr>
          <p:cNvSpPr/>
          <p:nvPr/>
        </p:nvSpPr>
        <p:spPr>
          <a:xfrm>
            <a:off x="5733288" y="4498848"/>
            <a:ext cx="4983480" cy="65836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View Source on GitHub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285232"/>
            <a:ext cx="7269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Presenter tip: keep this slide open during Q&amp;A — every button opens the real production service.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9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Live Deployment URLs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Interactive: click any link or button (Slide Show mode)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722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64748B"/>
                </a:solidFill>
                <a:latin typeface="Segoe UI"/>
              </a:defRPr>
            </a:pPr>
            <a:r>
              <a:t>Tip: Press F5 in PowerPoint, then click highlighted links to open each service in your browser.</a:t>
            </a:r>
          </a:p>
        </p:txBody>
      </p:sp>
      <p:sp>
        <p:nvSpPr>
          <p:cNvPr id="8" name="Rounded Rectangle 7">
            <a:hlinkClick r:id="rId2"/>
          </p:cNvPr>
          <p:cNvSpPr/>
          <p:nvPr/>
        </p:nvSpPr>
        <p:spPr>
          <a:xfrm>
            <a:off x="658368" y="1481328"/>
            <a:ext cx="3291840" cy="43891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Open AWS App</a:t>
            </a:r>
          </a:p>
        </p:txBody>
      </p:sp>
      <p:sp>
        <p:nvSpPr>
          <p:cNvPr id="9" name="Rounded Rectangle 8">
            <a:hlinkClick r:id="rId3"/>
          </p:cNvPr>
          <p:cNvSpPr/>
          <p:nvPr/>
        </p:nvSpPr>
        <p:spPr>
          <a:xfrm>
            <a:off x="4087368" y="1481328"/>
            <a:ext cx="3291840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Open API Docs</a:t>
            </a:r>
          </a:p>
        </p:txBody>
      </p:sp>
      <p:sp>
        <p:nvSpPr>
          <p:cNvPr id="10" name="Rounded Rectangle 9">
            <a:hlinkClick r:id="rId4"/>
          </p:cNvPr>
          <p:cNvSpPr/>
          <p:nvPr/>
        </p:nvSpPr>
        <p:spPr>
          <a:xfrm>
            <a:off x="7516368" y="1481328"/>
            <a:ext cx="329184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Open GitHub</a:t>
            </a:r>
          </a:p>
        </p:txBody>
      </p:sp>
      <p:pic>
        <p:nvPicPr>
          <p:cNvPr id="11" name="Picture 10" descr="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1965960"/>
            <a:ext cx="3063240" cy="3063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938528"/>
            <a:ext cx="71780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1938528"/>
            <a:ext cx="100584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984248"/>
            <a:ext cx="2606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52342"/>
                </a:solidFill>
                <a:latin typeface="Segoe UI"/>
              </a:defRPr>
            </a:pPr>
            <a:r>
              <a:t>AWS production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2002536"/>
            <a:ext cx="5257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0D9488"/>
                </a:solidFill>
                <a:latin typeface="Segoe UI"/>
                <a:hlinkClick r:id="rId2"/>
              </a:rPr>
              <a:t>https://asqmhsdwfs.us-east-2.awsapprunner.com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578608"/>
            <a:ext cx="71780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578608"/>
            <a:ext cx="100584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624328"/>
            <a:ext cx="2606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52342"/>
                </a:solidFill>
                <a:latin typeface="Segoe UI"/>
              </a:defRPr>
            </a:pPr>
            <a:r>
              <a:t>AWS production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8" y="2642616"/>
            <a:ext cx="5257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0D9488"/>
                </a:solidFill>
                <a:latin typeface="Segoe UI"/>
                <a:hlinkClick r:id="rId6"/>
              </a:rPr>
              <a:t>https://p3jivcdmbf.us-east-2.awsapprunner.com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18688"/>
            <a:ext cx="71780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218688"/>
            <a:ext cx="100584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264408"/>
            <a:ext cx="2606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52342"/>
                </a:solidFill>
                <a:latin typeface="Segoe UI"/>
              </a:defRPr>
            </a:pPr>
            <a:r>
              <a:t>Health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8728" y="3282696"/>
            <a:ext cx="5257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0D9488"/>
                </a:solidFill>
                <a:latin typeface="Segoe UI"/>
                <a:hlinkClick r:id="rId7"/>
              </a:rPr>
              <a:t>https://p3jivcdmbf.us-east-2.awsapprunner.com/health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58768"/>
            <a:ext cx="71780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58768"/>
            <a:ext cx="100584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904488"/>
            <a:ext cx="2606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52342"/>
                </a:solidFill>
                <a:latin typeface="Segoe UI"/>
              </a:defRPr>
            </a:pPr>
            <a:r>
              <a:t>Swagger API docs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8728" y="3922776"/>
            <a:ext cx="5257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0D9488"/>
                </a:solidFill>
                <a:latin typeface="Segoe UI"/>
                <a:hlinkClick r:id="rId3"/>
              </a:rPr>
              <a:t>https://p3jivcdmbf.us-east-2.awsapprunner.com/docs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498848"/>
            <a:ext cx="71780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498848"/>
            <a:ext cx="100584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544568"/>
            <a:ext cx="2606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52342"/>
                </a:solidFill>
                <a:latin typeface="Segoe UI"/>
              </a:defRPr>
            </a:pPr>
            <a:r>
              <a:t>ReDoc API docs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38728" y="4562856"/>
            <a:ext cx="5257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0D9488"/>
                </a:solidFill>
                <a:latin typeface="Segoe UI"/>
                <a:hlinkClick r:id="rId8"/>
              </a:rPr>
              <a:t>https://p3jivcdmbf.us-east-2.awsapprunner.com/redoc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138928"/>
            <a:ext cx="71780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5138928"/>
            <a:ext cx="100584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184648"/>
            <a:ext cx="2606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52342"/>
                </a:solidFill>
                <a:latin typeface="Segoe UI"/>
              </a:defRPr>
            </a:pPr>
            <a:r>
              <a:t>GitHub repository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38728" y="5202936"/>
            <a:ext cx="5257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sng">
                <a:solidFill>
                  <a:srgbClr val="0D9488"/>
                </a:solidFill>
                <a:latin typeface="Segoe UI"/>
                <a:hlinkClick r:id="rId4"/>
              </a:rPr>
              <a:t>https://github.com/nitya200/CloudMlOps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10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Production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AWS App Runner 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07008"/>
            <a:ext cx="10872216" cy="4956048"/>
          </a:xfrm>
          <a:prstGeom prst="roundRect">
            <a:avLst/>
          </a:prstGeom>
          <a:solidFill>
            <a:srgbClr val="0B122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aws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316736"/>
            <a:ext cx="10652760" cy="4736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61447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Live CloudMLOps UI on AWS (home / login route).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11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API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Interactive OpenAPI on production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07008"/>
            <a:ext cx="10872216" cy="4956048"/>
          </a:xfrm>
          <a:prstGeom prst="roundRect">
            <a:avLst/>
          </a:prstGeom>
          <a:solidFill>
            <a:srgbClr val="0B122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swagger_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316736"/>
            <a:ext cx="10652760" cy="4736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61447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Swagger UI served from the deployed FastAPI backend.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12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Results &amp;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What is working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70432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spcAft>
                <a:spcPts val="6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Live</a:t>
            </a:r>
          </a:p>
          <a:p>
            <a:pPr algn="ctr">
              <a:spcAft>
                <a:spcPts val="60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AWS App Runner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1170432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spcAft>
                <a:spcPts val="6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OK</a:t>
            </a:r>
          </a:p>
          <a:p>
            <a:pPr algn="ctr">
              <a:spcAft>
                <a:spcPts val="60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DB connected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1170432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spcAft>
                <a:spcPts val="6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171</a:t>
            </a:r>
          </a:p>
          <a:p>
            <a:pPr algn="ctr">
              <a:spcAft>
                <a:spcPts val="60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Tests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50808" y="1170432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spcAft>
                <a:spcPts val="6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UC-12</a:t>
            </a:r>
          </a:p>
          <a:p>
            <a:pPr algn="ctr">
              <a:spcAft>
                <a:spcPts val="60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Model promote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74519"/>
            <a:ext cx="6446520" cy="5074920"/>
          </a:xfrm>
          <a:prstGeom prst="rect">
            <a:avLst/>
          </a:prstGeom>
          <a:noFill/>
        </p:spPr>
        <p:txBody>
          <a:bodyPr wrap="square" lIns="5080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•  171 pytest cases — auth, uploads, AI paths, admin, migrations.</a:t>
            </a:r>
          </a:p>
          <a:p>
            <a:pPr>
              <a:lnSpc>
                <a:spcPct val="118000"/>
              </a:lnSpc>
              <a:spcAft>
                <a:spcPts val="10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•  Production health: database connected; summarizer ready on AWS.</a:t>
            </a:r>
          </a:p>
          <a:p>
            <a:pPr>
              <a:lnSpc>
                <a:spcPct val="118000"/>
              </a:lnSpc>
              <a:spcAft>
                <a:spcPts val="10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•  Terraform + GitHub Actions: repeatable deploy pipeline.</a:t>
            </a:r>
          </a:p>
          <a:p>
            <a:pPr>
              <a:lnSpc>
                <a:spcPct val="118000"/>
              </a:lnSpc>
              <a:spcAft>
                <a:spcPts val="10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•  Model lifecycle: ROUGE evaluation, approve, promote (UC-12 / UC-16).</a:t>
            </a:r>
          </a:p>
        </p:txBody>
      </p:sp>
      <p:pic>
        <p:nvPicPr>
          <p:cNvPr id="12" name="Picture 11" descr="r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719072"/>
            <a:ext cx="4251960" cy="42519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13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Planned improvements (not yet implemented)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6446520" cy="5074920"/>
          </a:xfrm>
          <a:prstGeom prst="rect">
            <a:avLst/>
          </a:prstGeom>
          <a:noFill/>
        </p:spPr>
        <p:txBody>
          <a:bodyPr wrap="square" lIns="50800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•  GPU App Runner or SageMaker for full FLAN-T5 at scale.</a:t>
            </a:r>
          </a:p>
          <a:p>
            <a:pPr>
              <a:lnSpc>
                <a:spcPct val="118000"/>
              </a:lnSpc>
              <a:spcAft>
                <a:spcPts val="14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•  CloudWatch alarms + email/SNS when services degrade.</a:t>
            </a:r>
          </a:p>
          <a:p>
            <a:pPr>
              <a:lnSpc>
                <a:spcPct val="118000"/>
              </a:lnSpc>
              <a:spcAft>
                <a:spcPts val="14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•  Richer offline benchmarks when extra compute is available.</a:t>
            </a:r>
          </a:p>
        </p:txBody>
      </p:sp>
      <p:pic>
        <p:nvPicPr>
          <p:cNvPr id="8" name="Picture 7" descr="thi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298448"/>
            <a:ext cx="425196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14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11155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024128"/>
            <a:ext cx="12191695" cy="731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"/>
            <a:ext cx="10872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2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In one minute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6446520" cy="5074920"/>
          </a:xfrm>
          <a:prstGeom prst="rect">
            <a:avLst/>
          </a:prstGeom>
          <a:noFill/>
        </p:spPr>
        <p:txBody>
          <a:bodyPr wrap="square" lIns="50800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•  Built a real cloud app — not just slides — with live URLs you can click.</a:t>
            </a:r>
          </a:p>
          <a:p>
            <a:pPr>
              <a:lnSpc>
                <a:spcPct val="118000"/>
              </a:lnSpc>
              <a:spcAft>
                <a:spcPts val="14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•  Solved document overload with extract, summarize, store, and rate.</a:t>
            </a:r>
          </a:p>
          <a:p>
            <a:pPr>
              <a:lnSpc>
                <a:spcPct val="118000"/>
              </a:lnSpc>
              <a:spcAft>
                <a:spcPts val="14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  •  Proved engineering quality with tests, CI, and AWS MLOps patterns.</a:t>
            </a:r>
          </a:p>
        </p:txBody>
      </p:sp>
      <p:pic>
        <p:nvPicPr>
          <p:cNvPr id="8" name="Picture 7" descr="team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298448"/>
            <a:ext cx="425196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583680"/>
            <a:ext cx="10872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CLOUDMLOPS  |  CIS 5690 - Cloud MLOps  |  Slide 15 of 15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365760"/>
            <a:ext cx="4114800" cy="41148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474720" cy="34747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4572000"/>
            <a:ext cx="2377440" cy="237744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91640" y="2148840"/>
            <a:ext cx="8778240" cy="2514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606040"/>
            <a:ext cx="1219169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520440"/>
            <a:ext cx="12191695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06B6D4"/>
                </a:solidFill>
                <a:latin typeface="Segoe UI"/>
              </a:defRPr>
            </a:pPr>
            <a:r>
              <a:t>CLOUDMLOPS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CIS 5690 - Cloud MLOps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8" name="Rounded Rectangle 7">
            <a:hlinkClick r:id="rId2"/>
          </p:cNvPr>
          <p:cNvSpPr/>
          <p:nvPr/>
        </p:nvSpPr>
        <p:spPr>
          <a:xfrm>
            <a:off x="4434840" y="4892040"/>
            <a:ext cx="3291840" cy="5303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Open Live Demo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